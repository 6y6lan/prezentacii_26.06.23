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9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70" r:id="rId16"/>
    <p:sldId id="272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32746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44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638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5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58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7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1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17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0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42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9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8475359-8CB7-4B21-809B-FC2BCFAC2B3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A970DD4-B7D5-4ED2-9031-13B522A52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s://en.wikipedia.org/wiki/MySQ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6981467-C6F6-4DB0-9541-48291A2DF5E1}"/>
              </a:ext>
            </a:extLst>
          </p:cNvPr>
          <p:cNvSpPr>
            <a:spLocks noGrp="1"/>
          </p:cNvSpPr>
          <p:nvPr/>
        </p:nvSpPr>
        <p:spPr>
          <a:xfrm>
            <a:off x="469556" y="426624"/>
            <a:ext cx="11722443" cy="16557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 Республики Башкортостан</a:t>
            </a:r>
          </a:p>
          <a:p>
            <a:pPr>
              <a:spcBef>
                <a:spcPts val="4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учреждение</a:t>
            </a:r>
          </a:p>
          <a:p>
            <a:pPr>
              <a:spcBef>
                <a:spcPts val="4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Уфимский колледж статистики, информатики и вычислительной техники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B630F37-529D-47D8-8F6A-1EBAAAC15D34}"/>
              </a:ext>
            </a:extLst>
          </p:cNvPr>
          <p:cNvSpPr>
            <a:spLocks noGrp="1"/>
          </p:cNvSpPr>
          <p:nvPr/>
        </p:nvSpPr>
        <p:spPr>
          <a:xfrm>
            <a:off x="628915" y="1773238"/>
            <a:ext cx="11403724" cy="16557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9017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720090" algn="l"/>
                <a:tab pos="3771900" algn="l"/>
              </a:tabLst>
            </a:pP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ВЕБ-ПРИЛОЖЕНИЯ АГРЕГАТОРА ДЛЯ ДИЗАЙНЕРОВ</a:t>
            </a:r>
            <a:endParaRPr lang="en-US" sz="3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Google Shape;137;p13">
            <a:extLst>
              <a:ext uri="{FF2B5EF4-FFF2-40B4-BE49-F238E27FC236}">
                <a16:creationId xmlns:a16="http://schemas.microsoft.com/office/drawing/2014/main" id="{04DF6EBE-EF0C-4FB9-80E0-A7D7ED3DEB6E}"/>
              </a:ext>
            </a:extLst>
          </p:cNvPr>
          <p:cNvSpPr txBox="1"/>
          <p:nvPr/>
        </p:nvSpPr>
        <p:spPr>
          <a:xfrm>
            <a:off x="5137950" y="5913410"/>
            <a:ext cx="19161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dirty="0">
                <a:solidFill>
                  <a:schemeClr val="lt1"/>
                </a:solidFill>
                <a:latin typeface="Times New Roman" panose="02020603050405020304" pitchFamily="18" charset="0"/>
                <a:ea typeface="Montserrat Medium"/>
                <a:cs typeface="Times New Roman" panose="02020603050405020304" pitchFamily="18" charset="0"/>
                <a:sym typeface="Montserrat Medium"/>
              </a:rPr>
              <a:t>Уфа – 2023</a:t>
            </a:r>
            <a:endParaRPr sz="2800" dirty="0">
              <a:solidFill>
                <a:schemeClr val="lt1"/>
              </a:solidFill>
              <a:latin typeface="Times New Roman" panose="02020603050405020304" pitchFamily="18" charset="0"/>
              <a:ea typeface="Montserrat Medium"/>
              <a:cs typeface="Times New Roman" panose="02020603050405020304" pitchFamily="18" charset="0"/>
              <a:sym typeface="Montserrat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F39E9-069C-404E-A513-729A564F4300}"/>
              </a:ext>
            </a:extLst>
          </p:cNvPr>
          <p:cNvSpPr txBox="1"/>
          <p:nvPr/>
        </p:nvSpPr>
        <p:spPr>
          <a:xfrm>
            <a:off x="7859181" y="4513027"/>
            <a:ext cx="361328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Дипломник группы </a:t>
            </a:r>
            <a:r>
              <a:rPr lang="en-US" sz="2000" dirty="0"/>
              <a:t>19</a:t>
            </a:r>
            <a:r>
              <a:rPr lang="ru-RU" sz="2000" dirty="0"/>
              <a:t>П-3</a:t>
            </a:r>
          </a:p>
          <a:p>
            <a:r>
              <a:rPr lang="ru-RU" sz="2000" dirty="0"/>
              <a:t>Биктимеров И.У.</a:t>
            </a:r>
          </a:p>
          <a:p>
            <a:pPr>
              <a:spcBef>
                <a:spcPts val="600"/>
              </a:spcBef>
            </a:pPr>
            <a:r>
              <a:rPr lang="ru-RU" sz="2000" dirty="0"/>
              <a:t>Дипломный руководитель</a:t>
            </a:r>
          </a:p>
          <a:p>
            <a:r>
              <a:rPr lang="ru-RU" sz="2000" dirty="0"/>
              <a:t>Болонистов В.В.</a:t>
            </a:r>
          </a:p>
        </p:txBody>
      </p:sp>
    </p:spTree>
    <p:extLst>
      <p:ext uri="{BB962C8B-B14F-4D97-AF65-F5344CB8AC3E}">
        <p14:creationId xmlns:p14="http://schemas.microsoft.com/office/powerpoint/2010/main" val="205660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996301-0BF5-47BF-8DE2-E85AD6E03D38}"/>
              </a:ext>
            </a:extLst>
          </p:cNvPr>
          <p:cNvSpPr txBox="1"/>
          <p:nvPr/>
        </p:nvSpPr>
        <p:spPr>
          <a:xfrm>
            <a:off x="1091682" y="1259919"/>
            <a:ext cx="10627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360045" algn="just">
              <a:spcBef>
                <a:spcPts val="0"/>
              </a:spcBef>
              <a:spcAft>
                <a:spcPts val="0"/>
              </a:spcAft>
              <a:tabLst>
                <a:tab pos="720090" algn="l"/>
                <a:tab pos="3771900" algn="l"/>
                <a:tab pos="0" algn="l"/>
                <a:tab pos="720090" algn="l"/>
                <a:tab pos="37719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приложения для агрегирования услуг по дизайну, позволяющей рационализировать вывод услуг, ускорить поиск с помощью автоматизации процесса.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5C1404B7-AEB9-46A1-846C-BCC2017ADA91}"/>
              </a:ext>
            </a:extLst>
          </p:cNvPr>
          <p:cNvSpPr txBox="1"/>
          <p:nvPr/>
        </p:nvSpPr>
        <p:spPr>
          <a:xfrm>
            <a:off x="1091682" y="356947"/>
            <a:ext cx="15036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B84A7B7-F2F7-4BC0-98C0-4D168BAB21F8}"/>
              </a:ext>
            </a:extLst>
          </p:cNvPr>
          <p:cNvSpPr txBox="1"/>
          <p:nvPr/>
        </p:nvSpPr>
        <p:spPr>
          <a:xfrm>
            <a:off x="1091682" y="2653994"/>
            <a:ext cx="21570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03C6A7C1-7CFA-4DC9-BE10-E64BCEEBC0B0}"/>
              </a:ext>
            </a:extLst>
          </p:cNvPr>
          <p:cNvSpPr txBox="1"/>
          <p:nvPr/>
        </p:nvSpPr>
        <p:spPr>
          <a:xfrm>
            <a:off x="1091682" y="3556966"/>
            <a:ext cx="728757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sz="2400" dirty="0"/>
              <a:t>исследовать предметную область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sz="2400" dirty="0"/>
              <a:t>провести анализ операционных процессов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sz="2400" dirty="0"/>
              <a:t>спроектировать архитектуру веб-приложения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sz="2400" dirty="0"/>
              <a:t>разработка и программирование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sz="2400" dirty="0"/>
              <a:t>провести тестирование и отладку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79231-531D-4EDB-BA38-DA187437F1B6}"/>
              </a:ext>
            </a:extLst>
          </p:cNvPr>
          <p:cNvSpPr txBox="1"/>
          <p:nvPr/>
        </p:nvSpPr>
        <p:spPr>
          <a:xfrm>
            <a:off x="11719250" y="6211669"/>
            <a:ext cx="3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6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4EE168C-3422-4846-8D14-415773720EF1}"/>
              </a:ext>
            </a:extLst>
          </p:cNvPr>
          <p:cNvSpPr>
            <a:spLocks noGrp="1"/>
          </p:cNvSpPr>
          <p:nvPr/>
        </p:nvSpPr>
        <p:spPr>
          <a:xfrm>
            <a:off x="1630145" y="0"/>
            <a:ext cx="8931709" cy="914100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342900" rtl="0" eaLnBrk="1" latinLnBrk="0" hangingPunct="1">
              <a:spcBef>
                <a:spcPts val="0"/>
              </a:spcBef>
              <a:spcAft>
                <a:spcPts val="0"/>
              </a:spcAft>
              <a:buSzPts val="2400"/>
              <a:buNone/>
              <a:defRPr sz="24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eaLnBrk="1" hangingPunct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tx2"/>
                </a:solidFill>
              </a:defRPr>
            </a:lvl2pPr>
            <a:lvl3pPr lvl="2" eaLnBrk="1" hangingPunct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tx2"/>
                </a:solidFill>
              </a:defRPr>
            </a:lvl3pPr>
            <a:lvl4pPr lvl="3" eaLnBrk="1" hangingPunct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tx2"/>
                </a:solidFill>
              </a:defRPr>
            </a:lvl4pPr>
            <a:lvl5pPr lvl="4" eaLnBrk="1" hangingPunct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tx2"/>
                </a:solidFill>
              </a:defRPr>
            </a:lvl5pPr>
            <a:lvl6pPr lvl="5" eaLnBrk="1" hangingPunct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tx2"/>
                </a:solidFill>
              </a:defRPr>
            </a:lvl6pPr>
            <a:lvl7pPr lvl="6" eaLnBrk="1" hangingPunct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tx2"/>
                </a:solidFill>
              </a:defRPr>
            </a:lvl7pPr>
            <a:lvl8pPr lvl="7" eaLnBrk="1" hangingPunct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tx2"/>
                </a:solidFill>
              </a:defRPr>
            </a:lvl8pPr>
            <a:lvl9pPr lvl="8" eaLnBrk="1" hangingPunct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</a:t>
            </a:r>
            <a:b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6850C92-22D4-42E7-97E4-C0775B79CB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8" t="56576" r="29511"/>
          <a:stretch/>
        </p:blipFill>
        <p:spPr>
          <a:xfrm>
            <a:off x="2335426" y="524298"/>
            <a:ext cx="7521147" cy="68259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E4398E-5D65-4FC3-88C9-B928FD8E84A3}"/>
              </a:ext>
            </a:extLst>
          </p:cNvPr>
          <p:cNvSpPr txBox="1"/>
          <p:nvPr/>
        </p:nvSpPr>
        <p:spPr>
          <a:xfrm>
            <a:off x="11719250" y="6211669"/>
            <a:ext cx="3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484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83A7D9D-8853-444F-8979-DDD71FBE2F8A}"/>
              </a:ext>
            </a:extLst>
          </p:cNvPr>
          <p:cNvSpPr>
            <a:spLocks noGrp="1"/>
          </p:cNvSpPr>
          <p:nvPr/>
        </p:nvSpPr>
        <p:spPr>
          <a:xfrm>
            <a:off x="919119" y="219236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ВХОДНАЯ ИНФОРМАЦИЯ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A5CD3-7EE2-48B7-ADDC-49691EC3F9EA}"/>
              </a:ext>
            </a:extLst>
          </p:cNvPr>
          <p:cNvSpPr txBox="1"/>
          <p:nvPr/>
        </p:nvSpPr>
        <p:spPr>
          <a:xfrm>
            <a:off x="11719250" y="6211669"/>
            <a:ext cx="3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56DC9-CFAE-4601-850E-58B29D459D5E}"/>
              </a:ext>
            </a:extLst>
          </p:cNvPr>
          <p:cNvSpPr txBox="1"/>
          <p:nvPr/>
        </p:nvSpPr>
        <p:spPr>
          <a:xfrm>
            <a:off x="1104900" y="1189686"/>
            <a:ext cx="9010650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720090" algn="l"/>
                <a:tab pos="3771900" algn="l"/>
                <a:tab pos="540385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регистрации соискателя, входными данными является информация о пользователе;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720090" algn="l"/>
                <a:tab pos="3771900" algn="l"/>
                <a:tab pos="540385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создании услуг, входными данными является информация об услуге.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58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5C89127-AA01-4549-8E78-77DA8A35C9BB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веб-приложению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5FCBF721-3536-4A49-98FD-6BBBE9ADA7A3}"/>
              </a:ext>
            </a:extLst>
          </p:cNvPr>
          <p:cNvSpPr>
            <a:spLocks noGrp="1"/>
          </p:cNvSpPr>
          <p:nvPr/>
        </p:nvSpPr>
        <p:spPr>
          <a:xfrm>
            <a:off x="1147877" y="1419225"/>
            <a:ext cx="9705974" cy="46386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457200" lvl="0" indent="-3111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300"/>
              <a:buFont typeface="Wingdings 3" panose="05040102010807070707" pitchFamily="18" charset="2"/>
              <a:buChar char="●"/>
              <a:defRPr sz="15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914400" lvl="1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3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371600" lvl="2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828800" lvl="3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286000" lvl="4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743200" lvl="5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3200400" lvl="6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657600" lvl="7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4114800" lvl="8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состав технических средств должен входить персональный компьютер, включающий в себя процессор, оперативную память, видеокарту, монитор, мышь.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продукт должен обладать следующими требованиями: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понятность интерфейса;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надежного внесения, хранения и изменения данных;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пояснение ошибок, сделанных пользователями программного продукта;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доступа пользователей.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93861-002C-4D9A-8BF2-F16ED7C350DA}"/>
              </a:ext>
            </a:extLst>
          </p:cNvPr>
          <p:cNvSpPr txBox="1"/>
          <p:nvPr/>
        </p:nvSpPr>
        <p:spPr>
          <a:xfrm>
            <a:off x="11372850" y="6211669"/>
            <a:ext cx="67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965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58DFA2-D171-4DBC-AAA4-31D259D3E45B}"/>
              </a:ext>
            </a:extLst>
          </p:cNvPr>
          <p:cNvSpPr txBox="1"/>
          <p:nvPr/>
        </p:nvSpPr>
        <p:spPr>
          <a:xfrm>
            <a:off x="3485648" y="139765"/>
            <a:ext cx="4123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отношений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657FE-3F64-4ECB-A85E-176952B0654D}"/>
              </a:ext>
            </a:extLst>
          </p:cNvPr>
          <p:cNvSpPr txBox="1"/>
          <p:nvPr/>
        </p:nvSpPr>
        <p:spPr>
          <a:xfrm>
            <a:off x="11719250" y="6211669"/>
            <a:ext cx="3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12">
            <a:extLst>
              <a:ext uri="{FF2B5EF4-FFF2-40B4-BE49-F238E27FC236}">
                <a16:creationId xmlns:a16="http://schemas.microsoft.com/office/drawing/2014/main" id="{41170D55-847D-45D8-8E3C-E67E296FE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18079" y="5243358"/>
            <a:ext cx="2291856" cy="1527905"/>
          </a:xfrm>
          <a:prstGeom prst="rect">
            <a:avLst/>
          </a:prstGeom>
          <a:noFill/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5E6661C-ADFA-459A-A7D2-C2DB0A30D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223" y="847651"/>
            <a:ext cx="5235927" cy="593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5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D3BDB6-C43C-4038-9C25-6ED076C56DE2}"/>
              </a:ext>
            </a:extLst>
          </p:cNvPr>
          <p:cNvSpPr txBox="1"/>
          <p:nvPr/>
        </p:nvSpPr>
        <p:spPr>
          <a:xfrm>
            <a:off x="11719250" y="6211669"/>
            <a:ext cx="3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6BD706B-A8A7-4037-8348-ED83DDB94EE2}"/>
              </a:ext>
            </a:extLst>
          </p:cNvPr>
          <p:cNvSpPr>
            <a:spLocks noGrp="1"/>
          </p:cNvSpPr>
          <p:nvPr/>
        </p:nvSpPr>
        <p:spPr>
          <a:xfrm>
            <a:off x="919119" y="209906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РАЗРАБОТКИ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C21AF73-9532-4D0A-8709-B89D78906ECE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077" y="1794973"/>
            <a:ext cx="2022461" cy="1058207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Объект 5">
            <a:extLst>
              <a:ext uri="{FF2B5EF4-FFF2-40B4-BE49-F238E27FC236}">
                <a16:creationId xmlns:a16="http://schemas.microsoft.com/office/drawing/2014/main" id="{EE6BE341-A1D7-4E4F-854A-198597AA0F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303253" y="1512170"/>
            <a:ext cx="2162317" cy="1341010"/>
          </a:xfrm>
          <a:prstGeom prst="rect">
            <a:avLst/>
          </a:prstGeom>
        </p:spPr>
      </p:pic>
      <p:pic>
        <p:nvPicPr>
          <p:cNvPr id="11" name="Picture 22">
            <a:extLst>
              <a:ext uri="{FF2B5EF4-FFF2-40B4-BE49-F238E27FC236}">
                <a16:creationId xmlns:a16="http://schemas.microsoft.com/office/drawing/2014/main" id="{8AB7A46A-D6D0-4D2C-81AD-3089F6AA83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49"/>
          <a:stretch/>
        </p:blipFill>
        <p:spPr bwMode="auto">
          <a:xfrm>
            <a:off x="4254520" y="3429000"/>
            <a:ext cx="3983905" cy="129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DF0C845-93BE-4F8A-8824-6751EAB0AEDF}"/>
              </a:ext>
            </a:extLst>
          </p:cNvPr>
          <p:cNvGrpSpPr/>
          <p:nvPr/>
        </p:nvGrpSpPr>
        <p:grpSpPr>
          <a:xfrm>
            <a:off x="4329762" y="4720899"/>
            <a:ext cx="4032090" cy="380925"/>
            <a:chOff x="2909008" y="5241956"/>
            <a:chExt cx="3081539" cy="369332"/>
          </a:xfrm>
        </p:grpSpPr>
        <p:sp>
          <p:nvSpPr>
            <p:cNvPr id="13" name="TextBox 2">
              <a:extLst>
                <a:ext uri="{FF2B5EF4-FFF2-40B4-BE49-F238E27FC236}">
                  <a16:creationId xmlns:a16="http://schemas.microsoft.com/office/drawing/2014/main" id="{1E587025-EF43-425B-9DBB-213BA398D369}"/>
                </a:ext>
              </a:extLst>
            </p:cNvPr>
            <p:cNvSpPr txBox="1"/>
            <p:nvPr/>
          </p:nvSpPr>
          <p:spPr>
            <a:xfrm>
              <a:off x="2909008" y="5241956"/>
              <a:ext cx="1016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HTML 5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F4C8CA2A-23BC-4991-A000-395DC848FE51}"/>
                </a:ext>
              </a:extLst>
            </p:cNvPr>
            <p:cNvSpPr txBox="1"/>
            <p:nvPr/>
          </p:nvSpPr>
          <p:spPr>
            <a:xfrm>
              <a:off x="4099603" y="5241956"/>
              <a:ext cx="850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CSS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8">
              <a:extLst>
                <a:ext uri="{FF2B5EF4-FFF2-40B4-BE49-F238E27FC236}">
                  <a16:creationId xmlns:a16="http://schemas.microsoft.com/office/drawing/2014/main" id="{8D07333D-4F46-4245-8820-B5A1E49C8E61}"/>
                </a:ext>
              </a:extLst>
            </p:cNvPr>
            <p:cNvSpPr txBox="1"/>
            <p:nvPr/>
          </p:nvSpPr>
          <p:spPr>
            <a:xfrm>
              <a:off x="4950286" y="5241956"/>
              <a:ext cx="1040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JavaScript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499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D4A032-3276-49B5-8AB4-C4EA01E963E7}"/>
              </a:ext>
            </a:extLst>
          </p:cNvPr>
          <p:cNvSpPr txBox="1"/>
          <p:nvPr/>
        </p:nvSpPr>
        <p:spPr>
          <a:xfrm>
            <a:off x="11719250" y="6211669"/>
            <a:ext cx="3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D65BC-349B-4D2B-9037-B185F44A0502}"/>
              </a:ext>
            </a:extLst>
          </p:cNvPr>
          <p:cNvSpPr txBox="1"/>
          <p:nvPr/>
        </p:nvSpPr>
        <p:spPr>
          <a:xfrm>
            <a:off x="578498" y="74645"/>
            <a:ext cx="5122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3FBA233-4C9E-41AA-BC34-D6950EF63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84" y="3720482"/>
            <a:ext cx="2791016" cy="2899756"/>
          </a:xfrm>
          <a:prstGeom prst="rect">
            <a:avLst/>
          </a:prstGeom>
          <a:effectLst>
            <a:softEdge rad="0"/>
          </a:effectLst>
          <a:scene3d>
            <a:camera prst="orthographicFront"/>
            <a:lightRig rig="threePt" dir="t"/>
          </a:scene3d>
          <a:sp3d>
            <a:bevelB w="0" h="0"/>
          </a:sp3d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DDD4D7D-FDBD-42AB-9FBC-69A2B37AA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017" y="5858238"/>
            <a:ext cx="3810000" cy="762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584EA05-01F2-4A82-BF1E-32AE5B735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84" y="1278465"/>
            <a:ext cx="2791016" cy="2232813"/>
          </a:xfrm>
          <a:prstGeom prst="rect">
            <a:avLst/>
          </a:prstGeom>
        </p:spPr>
      </p:pic>
      <p:sp>
        <p:nvSpPr>
          <p:cNvPr id="18" name="TextBox 12">
            <a:extLst>
              <a:ext uri="{FF2B5EF4-FFF2-40B4-BE49-F238E27FC236}">
                <a16:creationId xmlns:a16="http://schemas.microsoft.com/office/drawing/2014/main" id="{52A0E4F5-43E4-4F53-A786-64995C313E9A}"/>
              </a:ext>
            </a:extLst>
          </p:cNvPr>
          <p:cNvSpPr txBox="1"/>
          <p:nvPr/>
        </p:nvSpPr>
        <p:spPr bwMode="auto">
          <a:xfrm>
            <a:off x="8082667" y="74645"/>
            <a:ext cx="4109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79F11FDD-3087-4438-88BA-1037B91AAFB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551200" y="6239238"/>
            <a:ext cx="455817" cy="0"/>
          </a:xfrm>
          <a:prstGeom prst="straightConnector1">
            <a:avLst/>
          </a:prstGeom>
          <a:ln w="60325">
            <a:solidFill>
              <a:srgbClr val="FF8A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81E1A56-7EE4-4498-9B54-92E8B3480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2667" y="849196"/>
            <a:ext cx="3781425" cy="77152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7606B04-C1B2-4D3D-A8D3-611FE0E2B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2060" y="1717026"/>
            <a:ext cx="3781425" cy="94297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AA5844-0527-4ED6-B407-7999FFF02D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2059" y="2739882"/>
            <a:ext cx="3637191" cy="293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4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EFC7C99-8061-439A-A55C-2C40F4C58A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27"/>
          <a:stretch/>
        </p:blipFill>
        <p:spPr>
          <a:xfrm>
            <a:off x="752475" y="1162050"/>
            <a:ext cx="10966775" cy="5526093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A5C4CC0-4DEF-4BB4-A197-15E03008D9CB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 САЙТА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ED6126-A48F-4A6B-80AE-C4B39AD1C780}"/>
              </a:ext>
            </a:extLst>
          </p:cNvPr>
          <p:cNvSpPr txBox="1"/>
          <p:nvPr/>
        </p:nvSpPr>
        <p:spPr>
          <a:xfrm>
            <a:off x="11719250" y="6211669"/>
            <a:ext cx="3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10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2C2622-FA7C-4BF9-BCB2-F39BC3A83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118" y="1022388"/>
            <a:ext cx="5965763" cy="5732430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00FA937-DF0F-43C0-AE6D-5460F415E6F2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ПРОФИЛЯ ПОЛЬЗОВАТЕЛЯ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007B7-9491-4170-ABFD-F59CB38F8724}"/>
              </a:ext>
            </a:extLst>
          </p:cNvPr>
          <p:cNvSpPr txBox="1"/>
          <p:nvPr/>
        </p:nvSpPr>
        <p:spPr>
          <a:xfrm>
            <a:off x="11719250" y="6211669"/>
            <a:ext cx="32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152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42EB28-0728-4819-8389-407C2E661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3" y="1140307"/>
            <a:ext cx="10734517" cy="543529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08EE42B-6786-4855-9C75-28B8477ED851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ФИНАНСЫ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FB6CB-37E8-4268-A8F0-CFC3933DE447}"/>
              </a:ext>
            </a:extLst>
          </p:cNvPr>
          <p:cNvSpPr txBox="1"/>
          <p:nvPr/>
        </p:nvSpPr>
        <p:spPr>
          <a:xfrm>
            <a:off x="11372850" y="6211669"/>
            <a:ext cx="67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047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C3B446-CF40-405E-A3D1-136264C01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76" y="1140307"/>
            <a:ext cx="5283424" cy="5637654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8FF37AC-B185-4B99-ACD0-64E89F5D3747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НАСТРОЙКИ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0CADECE-BF5F-42CC-85E7-CF47D76DE3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25" r="8935"/>
          <a:stretch/>
        </p:blipFill>
        <p:spPr>
          <a:xfrm>
            <a:off x="6324758" y="1140307"/>
            <a:ext cx="5657692" cy="35459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CB8E97-72CD-454E-8899-8500E881D2D2}"/>
              </a:ext>
            </a:extLst>
          </p:cNvPr>
          <p:cNvSpPr txBox="1"/>
          <p:nvPr/>
        </p:nvSpPr>
        <p:spPr>
          <a:xfrm>
            <a:off x="11372850" y="6211669"/>
            <a:ext cx="67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375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F8EADD-C817-4245-9442-B2516AF1F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83" y="1209675"/>
            <a:ext cx="5244315" cy="552449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230CC2E-F338-4F4D-93AF-D7D90CD8A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004" y="1210583"/>
            <a:ext cx="5124450" cy="5523591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4F41099-000B-4DBB-92F4-311DAC392EED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СОЗДАНИЯ УСЛУГИ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ЗАКАЗА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185179-93B2-4289-A3D2-E4EA87AA3F3A}"/>
              </a:ext>
            </a:extLst>
          </p:cNvPr>
          <p:cNvSpPr txBox="1"/>
          <p:nvPr/>
        </p:nvSpPr>
        <p:spPr>
          <a:xfrm>
            <a:off x="11372850" y="6211669"/>
            <a:ext cx="67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320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227CE9-EE7B-474E-AA69-AD1A8F504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877" y="1235000"/>
            <a:ext cx="4704856" cy="522562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5AFF6A-670C-4D27-A391-14EA8FAFB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576" y="1235000"/>
            <a:ext cx="4284655" cy="5225622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3DE4153-C258-4C0B-80FF-3FD7DC2C3BDE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ОФОРМЛЕНИЕ УСЛУГИ/ЧАТА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39517-3AE0-4ED1-AB5C-B8B9745805C4}"/>
              </a:ext>
            </a:extLst>
          </p:cNvPr>
          <p:cNvSpPr txBox="1"/>
          <p:nvPr/>
        </p:nvSpPr>
        <p:spPr>
          <a:xfrm>
            <a:off x="11372850" y="6211669"/>
            <a:ext cx="67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368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202609A-8560-458E-A667-52531E16F78C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ПАНЕЛИ АДМИНИСТРАТОРА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914D36-EF15-47E0-B67E-BAF15F2C0E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99"/>
          <a:stretch/>
        </p:blipFill>
        <p:spPr>
          <a:xfrm>
            <a:off x="671511" y="1573881"/>
            <a:ext cx="11358564" cy="41696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D26837-7117-48D5-B56B-514C7DC811F0}"/>
              </a:ext>
            </a:extLst>
          </p:cNvPr>
          <p:cNvSpPr txBox="1"/>
          <p:nvPr/>
        </p:nvSpPr>
        <p:spPr>
          <a:xfrm>
            <a:off x="11372850" y="6211669"/>
            <a:ext cx="67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863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A6068D-5391-48B5-9122-3735B8623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1140307"/>
            <a:ext cx="3962400" cy="376843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D95D34C-2D86-4237-BA77-D31292812EDF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ОКНО БЛОКИРОВКИ ПОЛЬЗОВАТЕЛЯ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883870-DADA-4F52-BC9F-74A1BD9A5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19500"/>
            <a:ext cx="4766292" cy="1289243"/>
          </a:xfrm>
          <a:prstGeom prst="rect">
            <a:avLst/>
          </a:prstGeom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E116D98-0720-4FCF-BDD3-FE8093E45C84}"/>
              </a:ext>
            </a:extLst>
          </p:cNvPr>
          <p:cNvCxnSpPr>
            <a:cxnSpLocks/>
          </p:cNvCxnSpPr>
          <p:nvPr/>
        </p:nvCxnSpPr>
        <p:spPr>
          <a:xfrm>
            <a:off x="5324475" y="4448538"/>
            <a:ext cx="771525" cy="0"/>
          </a:xfrm>
          <a:prstGeom prst="straightConnector1">
            <a:avLst/>
          </a:prstGeom>
          <a:ln w="60325">
            <a:solidFill>
              <a:srgbClr val="FF8A2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0261D2-DE72-40E0-93F7-36958C250777}"/>
              </a:ext>
            </a:extLst>
          </p:cNvPr>
          <p:cNvSpPr txBox="1"/>
          <p:nvPr/>
        </p:nvSpPr>
        <p:spPr>
          <a:xfrm>
            <a:off x="11372850" y="6211669"/>
            <a:ext cx="67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612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0CE2DF5-5A1D-4C10-9C60-DC3F4C6A6BBE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Экономический раздел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931AA19B-B709-4564-ADF8-42330B0741C3}"/>
              </a:ext>
            </a:extLst>
          </p:cNvPr>
          <p:cNvSpPr>
            <a:spLocks noGrp="1"/>
          </p:cNvSpPr>
          <p:nvPr/>
        </p:nvSpPr>
        <p:spPr>
          <a:xfrm>
            <a:off x="1147876" y="1140307"/>
            <a:ext cx="10186873" cy="169814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457200" lvl="0" indent="-3111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300"/>
              <a:buFont typeface="Wingdings 3" panose="05040102010807070707" pitchFamily="18" charset="2"/>
              <a:buChar char="●"/>
              <a:defRPr sz="15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914400" lvl="1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3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371600" lvl="2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828800" lvl="3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286000" lvl="4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743200" lvl="5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3200400" lvl="6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657600" lvl="7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4114800" lvl="8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Затраты на создание программного продукта ЗПОЛ - </a:t>
            </a:r>
            <a:r>
              <a:rPr lang="ru-RU" sz="3200" dirty="0">
                <a:solidFill>
                  <a:schemeClr val="tx1"/>
                </a:solidFill>
              </a:rPr>
              <a:t>114162,91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руб.</a:t>
            </a:r>
          </a:p>
          <a:p>
            <a:pPr>
              <a:buFont typeface="Wingdings" panose="05000000000000000000" pitchFamily="2" charset="2"/>
              <a:buChar char="v"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Цена предложения ЦПР - </a:t>
            </a:r>
            <a:r>
              <a:rPr lang="ru-RU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160556,25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руб. </a:t>
            </a:r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864CA9-1743-4E70-AF94-3841E13D909C}"/>
              </a:ext>
            </a:extLst>
          </p:cNvPr>
          <p:cNvSpPr txBox="1"/>
          <p:nvPr/>
        </p:nvSpPr>
        <p:spPr>
          <a:xfrm>
            <a:off x="11372850" y="6211669"/>
            <a:ext cx="67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23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">
            <a:extLst>
              <a:ext uri="{FF2B5EF4-FFF2-40B4-BE49-F238E27FC236}">
                <a16:creationId xmlns:a16="http://schemas.microsoft.com/office/drawing/2014/main" id="{46EB3FBA-AADE-47E4-8A25-8C86E9FE778F}"/>
              </a:ext>
            </a:extLst>
          </p:cNvPr>
          <p:cNvSpPr>
            <a:spLocks noGrp="1"/>
          </p:cNvSpPr>
          <p:nvPr/>
        </p:nvSpPr>
        <p:spPr>
          <a:xfrm>
            <a:off x="1147877" y="1140307"/>
            <a:ext cx="9591675" cy="343293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457200" lvl="0" indent="-3111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300"/>
              <a:buFont typeface="Wingdings 3" panose="05040102010807070707" pitchFamily="18" charset="2"/>
              <a:buChar char="●"/>
              <a:defRPr sz="15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914400" lvl="1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3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371600" lvl="2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828800" lvl="3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286000" lvl="4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743200" lvl="5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3200400" lvl="6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657600" lvl="7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4114800" lvl="8" indent="-29845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Дипломный проект на тему «</a:t>
            </a: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веб-приложения агрегатора для дизайнеров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был выполнен в соответствии с поставленным заданием. 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20170002-BDAB-47F6-AF6E-AFC10FC9F129}"/>
              </a:ext>
            </a:extLst>
          </p:cNvPr>
          <p:cNvSpPr>
            <a:spLocks noGrp="1"/>
          </p:cNvSpPr>
          <p:nvPr/>
        </p:nvSpPr>
        <p:spPr>
          <a:xfrm>
            <a:off x="1147877" y="169857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B250F-5566-41AA-ADD6-867B778CBF77}"/>
              </a:ext>
            </a:extLst>
          </p:cNvPr>
          <p:cNvSpPr txBox="1"/>
          <p:nvPr/>
        </p:nvSpPr>
        <p:spPr>
          <a:xfrm>
            <a:off x="11372850" y="6211669"/>
            <a:ext cx="672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439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2B8C8EF-0959-464E-866E-F31C412FF3FE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70605413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587</TotalTime>
  <Words>266</Words>
  <Application>Microsoft Office PowerPoint</Application>
  <PresentationFormat>Широкоэкранный</PresentationFormat>
  <Paragraphs>68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Century Schoolbook</vt:lpstr>
      <vt:lpstr>Times New Roman</vt:lpstr>
      <vt:lpstr>Wingdings</vt:lpstr>
      <vt:lpstr>Wingdings 2</vt:lpstr>
      <vt:lpstr>Wingdings 3</vt:lpstr>
      <vt:lpstr>Вид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Ильнур Биктимеров</dc:creator>
  <cp:lastModifiedBy>Ильнур Биктимеров</cp:lastModifiedBy>
  <cp:revision>23</cp:revision>
  <dcterms:created xsi:type="dcterms:W3CDTF">2023-06-25T17:24:44Z</dcterms:created>
  <dcterms:modified xsi:type="dcterms:W3CDTF">2023-06-26T03:12:07Z</dcterms:modified>
</cp:coreProperties>
</file>